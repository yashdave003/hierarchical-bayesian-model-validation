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3" r:id="rId2"/>
    <p:sldId id="261" r:id="rId3"/>
    <p:sldId id="262" r:id="rId4"/>
  </p:sldIdLst>
  <p:sldSz cx="6858000" cy="9902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145A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6"/>
    <p:restoredTop sz="94640"/>
  </p:normalViewPr>
  <p:slideViewPr>
    <p:cSldViewPr snapToGrid="0">
      <p:cViewPr varScale="1">
        <p:scale>
          <a:sx n="74" d="100"/>
          <a:sy n="74" d="100"/>
        </p:scale>
        <p:origin x="30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0671"/>
            <a:ext cx="5829300" cy="344765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1276"/>
            <a:ext cx="5143500" cy="239089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121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992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8832"/>
            <a:ext cx="5915025" cy="411929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7102"/>
            <a:ext cx="5915025" cy="216624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776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6169"/>
            <a:ext cx="2914650" cy="62832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6169"/>
            <a:ext cx="2914650" cy="62832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6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236"/>
            <a:ext cx="5915025" cy="19140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7568"/>
            <a:ext cx="2901255" cy="118971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7282"/>
            <a:ext cx="2901255" cy="53204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7568"/>
            <a:ext cx="2915543" cy="118971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7282"/>
            <a:ext cx="2915543" cy="53204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64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98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345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188"/>
            <a:ext cx="2211884" cy="2310659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5826"/>
            <a:ext cx="3471863" cy="70374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0848"/>
            <a:ext cx="2211884" cy="55038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97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188"/>
            <a:ext cx="2211884" cy="2310659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5826"/>
            <a:ext cx="3471863" cy="70374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0848"/>
            <a:ext cx="2211884" cy="55038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404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54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234"/>
            <a:ext cx="1478756" cy="83921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234"/>
            <a:ext cx="4350544" cy="83921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48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236"/>
            <a:ext cx="5915025" cy="1914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6169"/>
            <a:ext cx="5915025" cy="6283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78454"/>
            <a:ext cx="1543050" cy="52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79BF34-66A7-D540-8187-8B9C4AF8F1BC}" type="datetimeFigureOut">
              <a:rPr lang="en-US" smtClean="0"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78454"/>
            <a:ext cx="2314575" cy="52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78454"/>
            <a:ext cx="1543050" cy="52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D086A-6E85-674C-A41F-DC14D3941B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6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24.png"/><Relationship Id="rId18" Type="http://schemas.openxmlformats.org/officeDocument/2006/relationships/image" Target="../media/image170.png"/><Relationship Id="rId3" Type="http://schemas.openxmlformats.org/officeDocument/2006/relationships/image" Target="../media/image6.png"/><Relationship Id="rId21" Type="http://schemas.openxmlformats.org/officeDocument/2006/relationships/image" Target="../media/image200.png"/><Relationship Id="rId7" Type="http://schemas.openxmlformats.org/officeDocument/2006/relationships/image" Target="../media/image60.png"/><Relationship Id="rId12" Type="http://schemas.openxmlformats.org/officeDocument/2006/relationships/image" Target="../media/image23.png"/><Relationship Id="rId17" Type="http://schemas.openxmlformats.org/officeDocument/2006/relationships/image" Target="../media/image160.png"/><Relationship Id="rId2" Type="http://schemas.openxmlformats.org/officeDocument/2006/relationships/image" Target="../media/image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100.png"/><Relationship Id="rId5" Type="http://schemas.openxmlformats.org/officeDocument/2006/relationships/image" Target="../media/image40.png"/><Relationship Id="rId15" Type="http://schemas.openxmlformats.org/officeDocument/2006/relationships/image" Target="../media/image140.png"/><Relationship Id="rId10" Type="http://schemas.openxmlformats.org/officeDocument/2006/relationships/image" Target="../media/image90.png"/><Relationship Id="rId19" Type="http://schemas.openxmlformats.org/officeDocument/2006/relationships/image" Target="../media/image18.png"/><Relationship Id="rId4" Type="http://schemas.openxmlformats.org/officeDocument/2006/relationships/image" Target="../media/image22.png"/><Relationship Id="rId9" Type="http://schemas.openxmlformats.org/officeDocument/2006/relationships/image" Target="../media/image80.png"/><Relationship Id="rId14" Type="http://schemas.openxmlformats.org/officeDocument/2006/relationships/image" Target="../media/image25.png"/><Relationship Id="rId22" Type="http://schemas.openxmlformats.org/officeDocument/2006/relationships/image" Target="../media/image2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13" Type="http://schemas.openxmlformats.org/officeDocument/2006/relationships/image" Target="../media/image31.png"/><Relationship Id="rId18" Type="http://schemas.openxmlformats.org/officeDocument/2006/relationships/image" Target="../media/image33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32.png"/><Relationship Id="rId12" Type="http://schemas.openxmlformats.org/officeDocument/2006/relationships/image" Target="../media/image30.png"/><Relationship Id="rId17" Type="http://schemas.openxmlformats.org/officeDocument/2006/relationships/image" Target="../media/image320.png"/><Relationship Id="rId2" Type="http://schemas.openxmlformats.org/officeDocument/2006/relationships/image" Target="../media/image26.png"/><Relationship Id="rId16" Type="http://schemas.openxmlformats.org/officeDocument/2006/relationships/image" Target="../media/image31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30.png"/><Relationship Id="rId15" Type="http://schemas.openxmlformats.org/officeDocument/2006/relationships/image" Target="../media/image300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18.png"/><Relationship Id="rId4" Type="http://schemas.openxmlformats.org/officeDocument/2006/relationships/image" Target="../media/image26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looking through a lens&#10;&#10;AI-generated content may be incorrect.">
            <a:extLst>
              <a:ext uri="{FF2B5EF4-FFF2-40B4-BE49-F238E27FC236}">
                <a16:creationId xmlns:a16="http://schemas.microsoft.com/office/drawing/2014/main" id="{7E004C7F-A84A-D1AB-0D7F-32B343F6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785" y="1549946"/>
            <a:ext cx="573154" cy="573154"/>
          </a:xfrm>
          <a:prstGeom prst="rect">
            <a:avLst/>
          </a:prstGeom>
        </p:spPr>
      </p:pic>
      <p:pic>
        <p:nvPicPr>
          <p:cNvPr id="5" name="Picture 4" descr="A person looking through a lens&#10;&#10;AI-generated content may be incorrect.">
            <a:extLst>
              <a:ext uri="{FF2B5EF4-FFF2-40B4-BE49-F238E27FC236}">
                <a16:creationId xmlns:a16="http://schemas.microsoft.com/office/drawing/2014/main" id="{2E15DC1A-9255-BE61-822A-927A60D19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785" y="2397529"/>
            <a:ext cx="573154" cy="573154"/>
          </a:xfrm>
          <a:prstGeom prst="rect">
            <a:avLst/>
          </a:prstGeom>
        </p:spPr>
      </p:pic>
      <p:pic>
        <p:nvPicPr>
          <p:cNvPr id="6" name="Picture 5" descr="A person looking through a lens&#10;&#10;AI-generated content may be incorrect.">
            <a:extLst>
              <a:ext uri="{FF2B5EF4-FFF2-40B4-BE49-F238E27FC236}">
                <a16:creationId xmlns:a16="http://schemas.microsoft.com/office/drawing/2014/main" id="{88091FA4-B708-3276-ACC9-F5E45D0C9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791" y="2415830"/>
            <a:ext cx="573152" cy="573152"/>
          </a:xfrm>
          <a:prstGeom prst="rect">
            <a:avLst/>
          </a:prstGeom>
        </p:spPr>
      </p:pic>
      <p:pic>
        <p:nvPicPr>
          <p:cNvPr id="7" name="Picture 6" descr="A person looking through a lens&#10;&#10;AI-generated content may be incorrect.">
            <a:extLst>
              <a:ext uri="{FF2B5EF4-FFF2-40B4-BE49-F238E27FC236}">
                <a16:creationId xmlns:a16="http://schemas.microsoft.com/office/drawing/2014/main" id="{26D06EF9-8048-01BF-8F66-D624B2462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578" y="1565757"/>
            <a:ext cx="573152" cy="573152"/>
          </a:xfrm>
          <a:prstGeom prst="rect">
            <a:avLst/>
          </a:prstGeom>
        </p:spPr>
      </p:pic>
      <p:pic>
        <p:nvPicPr>
          <p:cNvPr id="8" name="Picture 7" descr="A person shooting an object&#10;&#10;AI-generated content may be incorrect.">
            <a:extLst>
              <a:ext uri="{FF2B5EF4-FFF2-40B4-BE49-F238E27FC236}">
                <a16:creationId xmlns:a16="http://schemas.microsoft.com/office/drawing/2014/main" id="{D7417D93-6F95-C86F-0A00-6730E0AD2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785" y="727374"/>
            <a:ext cx="568354" cy="568354"/>
          </a:xfrm>
          <a:prstGeom prst="rect">
            <a:avLst/>
          </a:prstGeom>
        </p:spPr>
      </p:pic>
      <p:pic>
        <p:nvPicPr>
          <p:cNvPr id="9" name="Picture 8" descr="A person looking through binoculars&#10;&#10;AI-generated content may be incorrect.">
            <a:extLst>
              <a:ext uri="{FF2B5EF4-FFF2-40B4-BE49-F238E27FC236}">
                <a16:creationId xmlns:a16="http://schemas.microsoft.com/office/drawing/2014/main" id="{D078033F-853F-7214-ADDC-151DF0DABF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0128" y="1556984"/>
            <a:ext cx="554928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0F2EB-A7F1-4579-B2A0-32C3F1AAF506}"/>
                  </a:ext>
                </a:extLst>
              </p:cNvPr>
              <p:cNvSpPr txBox="1"/>
              <p:nvPr/>
            </p:nvSpPr>
            <p:spPr>
              <a:xfrm>
                <a:off x="1057951" y="252301"/>
                <a:ext cx="914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Sampled Image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700" b="0" i="1" smtClean="0">
                          <a:latin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0F2EB-A7F1-4579-B2A0-32C3F1AAF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51" y="252301"/>
                <a:ext cx="91440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241B7A87-6965-C4B7-884D-F1D49807EC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483" y="761559"/>
            <a:ext cx="559427" cy="55492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A0A3C6-020F-9F36-D7DF-01D82D36A881}"/>
              </a:ext>
            </a:extLst>
          </p:cNvPr>
          <p:cNvSpPr txBox="1"/>
          <p:nvPr/>
        </p:nvSpPr>
        <p:spPr>
          <a:xfrm>
            <a:off x="4481767" y="321171"/>
            <a:ext cx="9144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ea typeface="Cambria Math" panose="02040503050406030204" pitchFamily="18" charset="0"/>
              </a:rPr>
              <a:t>Observable</a:t>
            </a:r>
            <a:endParaRPr lang="en-US" sz="700" b="0" dirty="0">
              <a:latin typeface="Cambria Math" panose="020405030504060302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20453E-E795-AAA0-7E5F-A5C81EA460F8}"/>
              </a:ext>
            </a:extLst>
          </p:cNvPr>
          <p:cNvCxnSpPr/>
          <p:nvPr/>
        </p:nvCxnSpPr>
        <p:spPr>
          <a:xfrm>
            <a:off x="1747910" y="883587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740DF8-2FCA-5A97-4BBF-4848F1E7AC23}"/>
              </a:ext>
            </a:extLst>
          </p:cNvPr>
          <p:cNvCxnSpPr/>
          <p:nvPr/>
        </p:nvCxnSpPr>
        <p:spPr>
          <a:xfrm flipH="1">
            <a:off x="1788314" y="103569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82669D4-CA25-632C-53EB-909A6F80A051}"/>
                  </a:ext>
                </a:extLst>
              </p:cNvPr>
              <p:cNvSpPr txBox="1"/>
              <p:nvPr/>
            </p:nvSpPr>
            <p:spPr>
              <a:xfrm>
                <a:off x="1844525" y="716773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82669D4-CA25-632C-53EB-909A6F80A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525" y="716773"/>
                <a:ext cx="352639" cy="2000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08DD0F-1D33-3741-C1DA-E8E98812D514}"/>
                  </a:ext>
                </a:extLst>
              </p:cNvPr>
              <p:cNvSpPr txBox="1"/>
              <p:nvPr/>
            </p:nvSpPr>
            <p:spPr>
              <a:xfrm>
                <a:off x="1857817" y="1057695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08DD0F-1D33-3741-C1DA-E8E98812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817" y="1057695"/>
                <a:ext cx="352639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554BAF-D949-2D67-4037-624FE5FCD27F}"/>
              </a:ext>
            </a:extLst>
          </p:cNvPr>
          <p:cNvCxnSpPr>
            <a:cxnSpLocks/>
          </p:cNvCxnSpPr>
          <p:nvPr/>
        </p:nvCxnSpPr>
        <p:spPr>
          <a:xfrm>
            <a:off x="2896166" y="883587"/>
            <a:ext cx="17546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9905C-C305-490B-EFB2-8F0AA9EAEED6}"/>
                  </a:ext>
                </a:extLst>
              </p:cNvPr>
              <p:cNvSpPr txBox="1"/>
              <p:nvPr/>
            </p:nvSpPr>
            <p:spPr>
              <a:xfrm>
                <a:off x="3185686" y="709759"/>
                <a:ext cx="102876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 </m:t>
                    </m:r>
                  </m:oMath>
                </a14:m>
                <a:r>
                  <a:rPr lang="en-US" sz="600" dirty="0">
                    <a:solidFill>
                      <a:srgbClr val="4EA72E"/>
                    </a:solidFill>
                    <a:ea typeface="Cambria Math" panose="02040503050406030204" pitchFamily="18" charset="0"/>
                  </a:rPr>
                  <a:t>Measurement noise</a:t>
                </a:r>
                <a14:m>
                  <m:oMath xmlns:m="http://schemas.openxmlformats.org/officeDocument/2006/math">
                    <m:r>
                      <a:rPr lang="en-US" sz="600" b="0" i="1" smtClean="0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600" dirty="0">
                  <a:solidFill>
                    <a:srgbClr val="4EA72E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9905C-C305-490B-EFB2-8F0AA9EAE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686" y="709759"/>
                <a:ext cx="1028769" cy="184666"/>
              </a:xfrm>
              <a:prstGeom prst="rect">
                <a:avLst/>
              </a:prstGeom>
              <a:blipFill>
                <a:blip r:embed="rId1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4E5534-2089-4930-5B4F-7FE16136FF87}"/>
              </a:ext>
            </a:extLst>
          </p:cNvPr>
          <p:cNvCxnSpPr>
            <a:cxnSpLocks/>
          </p:cNvCxnSpPr>
          <p:nvPr/>
        </p:nvCxnSpPr>
        <p:spPr>
          <a:xfrm flipH="1">
            <a:off x="2996075" y="1034921"/>
            <a:ext cx="1661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8984FA-39FA-C239-0DE7-2E1D2EC2CC9E}"/>
              </a:ext>
            </a:extLst>
          </p:cNvPr>
          <p:cNvSpPr txBox="1"/>
          <p:nvPr/>
        </p:nvSpPr>
        <p:spPr>
          <a:xfrm>
            <a:off x="3154181" y="1017816"/>
            <a:ext cx="13211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*Full Bayesian Pipeline</a:t>
            </a:r>
          </a:p>
        </p:txBody>
      </p:sp>
      <p:pic>
        <p:nvPicPr>
          <p:cNvPr id="21" name="Picture 20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507544E0-8F7B-63B8-961B-4AD426A0B1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483" y="1556984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33728B6-2CF4-F329-7F9E-7CB280E78D02}"/>
                  </a:ext>
                </a:extLst>
              </p:cNvPr>
              <p:cNvSpPr txBox="1"/>
              <p:nvPr/>
            </p:nvSpPr>
            <p:spPr>
              <a:xfrm>
                <a:off x="4475364" y="1407134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33728B6-2CF4-F329-7F9E-7CB280E78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364" y="1407134"/>
                <a:ext cx="914400" cy="1874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A5F200-7A97-E7A5-148F-EADDC95BB4DA}"/>
              </a:ext>
            </a:extLst>
          </p:cNvPr>
          <p:cNvCxnSpPr/>
          <p:nvPr/>
        </p:nvCxnSpPr>
        <p:spPr>
          <a:xfrm>
            <a:off x="1747910" y="1679012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2C0617F-FAFD-DF39-2575-A107065BEFAB}"/>
              </a:ext>
            </a:extLst>
          </p:cNvPr>
          <p:cNvCxnSpPr>
            <a:cxnSpLocks/>
          </p:cNvCxnSpPr>
          <p:nvPr/>
        </p:nvCxnSpPr>
        <p:spPr>
          <a:xfrm flipH="1">
            <a:off x="1788314" y="18311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10E5220-26BA-B5F4-FB78-CE37BC27BC62}"/>
                  </a:ext>
                </a:extLst>
              </p:cNvPr>
              <p:cNvSpPr txBox="1"/>
              <p:nvPr/>
            </p:nvSpPr>
            <p:spPr>
              <a:xfrm>
                <a:off x="1844525" y="1512198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10E5220-26BA-B5F4-FB78-CE37BC27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525" y="1512198"/>
                <a:ext cx="352639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A49D43D-71BF-F97B-FE73-B7A5C96EEC26}"/>
                  </a:ext>
                </a:extLst>
              </p:cNvPr>
              <p:cNvSpPr txBox="1"/>
              <p:nvPr/>
            </p:nvSpPr>
            <p:spPr>
              <a:xfrm>
                <a:off x="1857817" y="1853120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A49D43D-71BF-F97B-FE73-B7A5C96EE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817" y="1853120"/>
                <a:ext cx="352639" cy="2000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CD0F6-26B7-8B17-F203-5BB6052CE57D}"/>
              </a:ext>
            </a:extLst>
          </p:cNvPr>
          <p:cNvCxnSpPr/>
          <p:nvPr/>
        </p:nvCxnSpPr>
        <p:spPr>
          <a:xfrm>
            <a:off x="4061251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3F6279E-E7F0-C59C-E051-FD4256B426FF}"/>
              </a:ext>
            </a:extLst>
          </p:cNvPr>
          <p:cNvSpPr txBox="1"/>
          <p:nvPr/>
        </p:nvSpPr>
        <p:spPr>
          <a:xfrm>
            <a:off x="4005100" y="139819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70EFC6F-6FA4-95EA-B3D4-20A903B5A3E0}"/>
              </a:ext>
            </a:extLst>
          </p:cNvPr>
          <p:cNvCxnSpPr/>
          <p:nvPr/>
        </p:nvCxnSpPr>
        <p:spPr>
          <a:xfrm flipH="1">
            <a:off x="4120705" y="1829577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29CDD75-BD52-C2ED-41C2-C5C98D095F74}"/>
              </a:ext>
            </a:extLst>
          </p:cNvPr>
          <p:cNvSpPr txBox="1"/>
          <p:nvPr/>
        </p:nvSpPr>
        <p:spPr>
          <a:xfrm>
            <a:off x="4010017" y="1864400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D32511-1335-6F09-B80D-E4A58F160809}"/>
                  </a:ext>
                </a:extLst>
              </p:cNvPr>
              <p:cNvSpPr txBox="1"/>
              <p:nvPr/>
            </p:nvSpPr>
            <p:spPr>
              <a:xfrm>
                <a:off x="3302648" y="1312437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D32511-1335-6F09-B80D-E4A58F160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648" y="1312437"/>
                <a:ext cx="956082" cy="2901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DC63E7B-5AA2-1CE4-1EAF-3EB459D9CC17}"/>
              </a:ext>
            </a:extLst>
          </p:cNvPr>
          <p:cNvCxnSpPr/>
          <p:nvPr/>
        </p:nvCxnSpPr>
        <p:spPr>
          <a:xfrm>
            <a:off x="2902376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D903FE3-ECEC-255E-EA09-ADAD7F9FA40C}"/>
              </a:ext>
            </a:extLst>
          </p:cNvPr>
          <p:cNvCxnSpPr/>
          <p:nvPr/>
        </p:nvCxnSpPr>
        <p:spPr>
          <a:xfrm flipH="1">
            <a:off x="2961618" y="1831012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3B577A-1594-56C9-CC97-8B0B2B766280}"/>
              </a:ext>
            </a:extLst>
          </p:cNvPr>
          <p:cNvSpPr txBox="1"/>
          <p:nvPr/>
        </p:nvSpPr>
        <p:spPr>
          <a:xfrm>
            <a:off x="2818852" y="1403133"/>
            <a:ext cx="692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Data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8E239E-28E5-A473-5687-57490C8AF2E7}"/>
              </a:ext>
            </a:extLst>
          </p:cNvPr>
          <p:cNvSpPr txBox="1"/>
          <p:nvPr/>
        </p:nvSpPr>
        <p:spPr>
          <a:xfrm>
            <a:off x="2788583" y="1818305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*Inverse Data Augmentation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8332E03-D048-622B-9E36-4F85758F1069}"/>
                  </a:ext>
                </a:extLst>
              </p:cNvPr>
              <p:cNvSpPr txBox="1"/>
              <p:nvPr/>
            </p:nvSpPr>
            <p:spPr>
              <a:xfrm>
                <a:off x="2151159" y="2155429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Image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8332E03-D048-622B-9E36-4F85758F1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1159" y="2155429"/>
                <a:ext cx="956082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Picture 36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7073F76A-4814-F892-7589-2DA31CD94E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483" y="2397890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1B7599-220F-16D4-4A53-20F306C981D9}"/>
                  </a:ext>
                </a:extLst>
              </p:cNvPr>
              <p:cNvSpPr txBox="1"/>
              <p:nvPr/>
            </p:nvSpPr>
            <p:spPr>
              <a:xfrm>
                <a:off x="4475364" y="2245351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1B7599-220F-16D4-4A53-20F306C98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364" y="2245351"/>
                <a:ext cx="914400" cy="1874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7468539-A8AA-03DD-7A9C-9CC99AA03504}"/>
              </a:ext>
            </a:extLst>
          </p:cNvPr>
          <p:cNvCxnSpPr/>
          <p:nvPr/>
        </p:nvCxnSpPr>
        <p:spPr>
          <a:xfrm>
            <a:off x="1747910" y="2519918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E76BE3-B734-186C-95D1-262D38F8A74D}"/>
              </a:ext>
            </a:extLst>
          </p:cNvPr>
          <p:cNvCxnSpPr>
            <a:cxnSpLocks/>
          </p:cNvCxnSpPr>
          <p:nvPr/>
        </p:nvCxnSpPr>
        <p:spPr>
          <a:xfrm flipH="1">
            <a:off x="1788314" y="2672024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5CD3C8-DC56-2D36-6F44-A5D17E77E929}"/>
              </a:ext>
            </a:extLst>
          </p:cNvPr>
          <p:cNvCxnSpPr/>
          <p:nvPr/>
        </p:nvCxnSpPr>
        <p:spPr>
          <a:xfrm>
            <a:off x="4061251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1FE1FED-C6BF-21E2-1FFD-E54AB2397121}"/>
              </a:ext>
            </a:extLst>
          </p:cNvPr>
          <p:cNvSpPr txBox="1"/>
          <p:nvPr/>
        </p:nvSpPr>
        <p:spPr>
          <a:xfrm>
            <a:off x="3969289" y="2238490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6515F72-9987-FF65-00FA-935F86935562}"/>
              </a:ext>
            </a:extLst>
          </p:cNvPr>
          <p:cNvCxnSpPr/>
          <p:nvPr/>
        </p:nvCxnSpPr>
        <p:spPr>
          <a:xfrm flipH="1">
            <a:off x="4120705" y="267048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A34E838-B800-B140-D150-4C6DABF16944}"/>
              </a:ext>
            </a:extLst>
          </p:cNvPr>
          <p:cNvSpPr txBox="1"/>
          <p:nvPr/>
        </p:nvSpPr>
        <p:spPr>
          <a:xfrm>
            <a:off x="4010017" y="2705306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6DD8966-DAD0-32FF-3A45-449391621E40}"/>
                  </a:ext>
                </a:extLst>
              </p:cNvPr>
              <p:cNvSpPr txBox="1"/>
              <p:nvPr/>
            </p:nvSpPr>
            <p:spPr>
              <a:xfrm>
                <a:off x="3296937" y="2163146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6DD8966-DAD0-32FF-3A45-449391621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937" y="2163146"/>
                <a:ext cx="956082" cy="29014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B6F03F1-3FEB-3777-9B84-D22B55CD23DD}"/>
              </a:ext>
            </a:extLst>
          </p:cNvPr>
          <p:cNvCxnSpPr/>
          <p:nvPr/>
        </p:nvCxnSpPr>
        <p:spPr>
          <a:xfrm>
            <a:off x="2902376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E996CD3-9635-8C87-0CDF-67E704AC14CE}"/>
              </a:ext>
            </a:extLst>
          </p:cNvPr>
          <p:cNvCxnSpPr/>
          <p:nvPr/>
        </p:nvCxnSpPr>
        <p:spPr>
          <a:xfrm flipH="1">
            <a:off x="2961618" y="26719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6AD3DCA-185C-F716-21FD-DCDB9CFB53B4}"/>
                  </a:ext>
                </a:extLst>
              </p:cNvPr>
              <p:cNvSpPr txBox="1"/>
              <p:nvPr/>
            </p:nvSpPr>
            <p:spPr>
              <a:xfrm>
                <a:off x="2996075" y="2353849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6AD3DCA-185C-F716-21FD-DCDB9CFB5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075" y="2353849"/>
                <a:ext cx="352639" cy="2000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B3FBB1E-FD5D-E352-0507-5617018FC0B0}"/>
                  </a:ext>
                </a:extLst>
              </p:cNvPr>
              <p:cNvSpPr txBox="1"/>
              <p:nvPr/>
            </p:nvSpPr>
            <p:spPr>
              <a:xfrm>
                <a:off x="3009367" y="2694771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B3FBB1E-FD5D-E352-0507-5617018F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367" y="2694771"/>
                <a:ext cx="352639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2F0B8043-F1E8-2A22-91BE-CBFC569DE84F}"/>
              </a:ext>
            </a:extLst>
          </p:cNvPr>
          <p:cNvSpPr txBox="1"/>
          <p:nvPr/>
        </p:nvSpPr>
        <p:spPr>
          <a:xfrm>
            <a:off x="1693082" y="224884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Image Augmentation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9E72AF-2FB6-2DB2-2A1E-03D69652A05C}"/>
              </a:ext>
            </a:extLst>
          </p:cNvPr>
          <p:cNvSpPr txBox="1"/>
          <p:nvPr/>
        </p:nvSpPr>
        <p:spPr>
          <a:xfrm>
            <a:off x="1630113" y="2683249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Inverse Image Augmentation</a:t>
            </a:r>
          </a:p>
        </p:txBody>
      </p:sp>
      <p:pic>
        <p:nvPicPr>
          <p:cNvPr id="52" name="Picture 51" descr="A person using a camera&#10;&#10;AI-generated content may be incorrect.">
            <a:extLst>
              <a:ext uri="{FF2B5EF4-FFF2-40B4-BE49-F238E27FC236}">
                <a16:creationId xmlns:a16="http://schemas.microsoft.com/office/drawing/2014/main" id="{CC7FCFEC-FA64-C1E7-F4A9-1D0527DC566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49989" y="2398129"/>
            <a:ext cx="557804" cy="5546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6C98E4F-9939-8F05-BEF1-117D6AFFE556}"/>
              </a:ext>
            </a:extLst>
          </p:cNvPr>
          <p:cNvSpPr txBox="1"/>
          <p:nvPr/>
        </p:nvSpPr>
        <p:spPr>
          <a:xfrm>
            <a:off x="391160" y="862644"/>
            <a:ext cx="788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Ideal Model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6247F1-8149-67A4-4882-CABD8EBDCBC9}"/>
              </a:ext>
            </a:extLst>
          </p:cNvPr>
          <p:cNvSpPr txBox="1"/>
          <p:nvPr/>
        </p:nvSpPr>
        <p:spPr>
          <a:xfrm>
            <a:off x="224855" y="1510205"/>
            <a:ext cx="95939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post hoc</a:t>
            </a:r>
          </a:p>
          <a:p>
            <a:pPr algn="ctr"/>
            <a:r>
              <a:rPr lang="en-US" sz="600" dirty="0"/>
              <a:t>(Method used in paper)</a:t>
            </a:r>
            <a:endParaRPr lang="en-US" sz="5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1FB32A-ACA6-1B4B-D364-FA9BCD31CB98}"/>
              </a:ext>
            </a:extLst>
          </p:cNvPr>
          <p:cNvSpPr txBox="1"/>
          <p:nvPr/>
        </p:nvSpPr>
        <p:spPr>
          <a:xfrm>
            <a:off x="269849" y="2414555"/>
            <a:ext cx="91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ante hoc</a:t>
            </a:r>
          </a:p>
          <a:p>
            <a:pPr algn="ctr"/>
            <a:r>
              <a:rPr lang="en-US" sz="600" dirty="0"/>
              <a:t>(Equivalent Method)</a:t>
            </a:r>
            <a:endParaRPr lang="en-US" sz="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5543FE8-65FD-BAE4-5DBA-CC83EC518FA2}"/>
                  </a:ext>
                </a:extLst>
              </p:cNvPr>
              <p:cNvSpPr txBox="1"/>
              <p:nvPr/>
            </p:nvSpPr>
            <p:spPr>
              <a:xfrm>
                <a:off x="4548389" y="573329"/>
                <a:ext cx="768350" cy="184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𝑌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ℱ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𝑥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cs typeface="+mn-cs"/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5543FE8-65FD-BAE4-5DBA-CC83EC518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8389" y="573329"/>
                <a:ext cx="768350" cy="18466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D8CDE49-0A6D-4CF3-4329-8506D680569B}"/>
                  </a:ext>
                </a:extLst>
              </p:cNvPr>
              <p:cNvSpPr txBox="1"/>
              <p:nvPr/>
            </p:nvSpPr>
            <p:spPr>
              <a:xfrm>
                <a:off x="2172232" y="456826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D8CDE49-0A6D-4CF3-4329-8506D6805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232" y="456826"/>
                <a:ext cx="956082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1FA9007-673A-B7E3-C411-5A87D5991131}"/>
                  </a:ext>
                </a:extLst>
              </p:cNvPr>
              <p:cNvSpPr txBox="1"/>
              <p:nvPr/>
            </p:nvSpPr>
            <p:spPr>
              <a:xfrm>
                <a:off x="2180022" y="1314612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1FA9007-673A-B7E3-C411-5A87D5991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022" y="1314612"/>
                <a:ext cx="956082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9" name="Picture 58" descr="A person looking through binoculars&#10;&#10;AI-generated content may be incorrect.">
            <a:extLst>
              <a:ext uri="{FF2B5EF4-FFF2-40B4-BE49-F238E27FC236}">
                <a16:creationId xmlns:a16="http://schemas.microsoft.com/office/drawing/2014/main" id="{DC19F71B-DA38-DA30-91E5-A54DBCD95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2080" y="757995"/>
            <a:ext cx="554439" cy="554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0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2DC9-3E6D-B550-4027-BDBCC5F1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145BC5-F47F-DCB9-24E1-D4F48C1F7FD2}"/>
                  </a:ext>
                </a:extLst>
              </p:cNvPr>
              <p:cNvSpPr txBox="1"/>
              <p:nvPr/>
            </p:nvSpPr>
            <p:spPr>
              <a:xfrm>
                <a:off x="1057951" y="252301"/>
                <a:ext cx="914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Sampled Image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700" b="0" i="1" smtClean="0">
                          <a:latin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145BC5-F47F-DCB9-24E1-D4F48C1F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51" y="252301"/>
                <a:ext cx="9144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9CE213CC-E2B5-0AC4-813F-6ECC981CE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483" y="761559"/>
            <a:ext cx="559427" cy="5549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D6C380-0664-587C-526F-6916C5309EB0}"/>
              </a:ext>
            </a:extLst>
          </p:cNvPr>
          <p:cNvSpPr txBox="1"/>
          <p:nvPr/>
        </p:nvSpPr>
        <p:spPr>
          <a:xfrm>
            <a:off x="4481767" y="321171"/>
            <a:ext cx="9144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ea typeface="Cambria Math" panose="02040503050406030204" pitchFamily="18" charset="0"/>
              </a:rPr>
              <a:t>Observable</a:t>
            </a:r>
            <a:endParaRPr lang="en-US" sz="700" b="0" dirty="0">
              <a:latin typeface="Cambria Math" panose="02040503050406030204" pitchFamily="18" charset="0"/>
            </a:endParaRPr>
          </a:p>
        </p:txBody>
      </p:sp>
      <p:pic>
        <p:nvPicPr>
          <p:cNvPr id="11" name="Picture 10" descr="A person using a telescope&#10;&#10;AI-generated content may be incorrect.">
            <a:extLst>
              <a:ext uri="{FF2B5EF4-FFF2-40B4-BE49-F238E27FC236}">
                <a16:creationId xmlns:a16="http://schemas.microsoft.com/office/drawing/2014/main" id="{00756D19-E749-382E-1A4C-FC24BDBAC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9159" y="728500"/>
            <a:ext cx="559617" cy="55492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C81CF66-C27C-1FB1-7F3D-A76055A878C9}"/>
              </a:ext>
            </a:extLst>
          </p:cNvPr>
          <p:cNvCxnSpPr/>
          <p:nvPr/>
        </p:nvCxnSpPr>
        <p:spPr>
          <a:xfrm>
            <a:off x="1747910" y="883587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554340B-AAAB-8B9C-BA55-E90E2CBDB126}"/>
              </a:ext>
            </a:extLst>
          </p:cNvPr>
          <p:cNvCxnSpPr/>
          <p:nvPr/>
        </p:nvCxnSpPr>
        <p:spPr>
          <a:xfrm flipH="1">
            <a:off x="1788314" y="103569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00167FA-AA18-6D2D-A048-2A12798353B4}"/>
                  </a:ext>
                </a:extLst>
              </p:cNvPr>
              <p:cNvSpPr txBox="1"/>
              <p:nvPr/>
            </p:nvSpPr>
            <p:spPr>
              <a:xfrm>
                <a:off x="1844525" y="716773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00167FA-AA18-6D2D-A048-2A1279835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525" y="716773"/>
                <a:ext cx="352639" cy="2000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A493B1-382E-F1DE-310D-C68107F93A83}"/>
                  </a:ext>
                </a:extLst>
              </p:cNvPr>
              <p:cNvSpPr txBox="1"/>
              <p:nvPr/>
            </p:nvSpPr>
            <p:spPr>
              <a:xfrm>
                <a:off x="1857817" y="1057695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A493B1-382E-F1DE-310D-C68107F93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817" y="1057695"/>
                <a:ext cx="352639" cy="2000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41E6BE-5CE7-B928-4F55-1CDB8D67F5D0}"/>
              </a:ext>
            </a:extLst>
          </p:cNvPr>
          <p:cNvCxnSpPr>
            <a:cxnSpLocks/>
          </p:cNvCxnSpPr>
          <p:nvPr/>
        </p:nvCxnSpPr>
        <p:spPr>
          <a:xfrm>
            <a:off x="2896166" y="883587"/>
            <a:ext cx="17546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AB3698-DE3C-407E-2046-2BABB3825128}"/>
                  </a:ext>
                </a:extLst>
              </p:cNvPr>
              <p:cNvSpPr txBox="1"/>
              <p:nvPr/>
            </p:nvSpPr>
            <p:spPr>
              <a:xfrm>
                <a:off x="3185686" y="709759"/>
                <a:ext cx="102876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 </m:t>
                    </m:r>
                  </m:oMath>
                </a14:m>
                <a:r>
                  <a:rPr lang="en-US" sz="600" dirty="0">
                    <a:solidFill>
                      <a:srgbClr val="4EA72E"/>
                    </a:solidFill>
                    <a:ea typeface="Cambria Math" panose="02040503050406030204" pitchFamily="18" charset="0"/>
                  </a:rPr>
                  <a:t>Measurement noise</a:t>
                </a:r>
                <a14:m>
                  <m:oMath xmlns:m="http://schemas.openxmlformats.org/officeDocument/2006/math">
                    <m:r>
                      <a:rPr lang="en-US" sz="600" b="0" i="1" smtClean="0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600" dirty="0">
                  <a:solidFill>
                    <a:srgbClr val="4EA72E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AB3698-DE3C-407E-2046-2BABB3825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686" y="709759"/>
                <a:ext cx="1028769" cy="184666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1EDD72-3EA5-C494-F701-0EAB18DFB49B}"/>
              </a:ext>
            </a:extLst>
          </p:cNvPr>
          <p:cNvCxnSpPr>
            <a:cxnSpLocks/>
          </p:cNvCxnSpPr>
          <p:nvPr/>
        </p:nvCxnSpPr>
        <p:spPr>
          <a:xfrm flipH="1">
            <a:off x="2996075" y="1034921"/>
            <a:ext cx="1661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750497-3987-AD9B-5FFA-0440E7A8F10E}"/>
              </a:ext>
            </a:extLst>
          </p:cNvPr>
          <p:cNvSpPr txBox="1"/>
          <p:nvPr/>
        </p:nvSpPr>
        <p:spPr>
          <a:xfrm>
            <a:off x="3154181" y="1017816"/>
            <a:ext cx="13211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*Full Bayesian Pipeline</a:t>
            </a:r>
          </a:p>
        </p:txBody>
      </p:sp>
      <p:pic>
        <p:nvPicPr>
          <p:cNvPr id="25" name="Picture 24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CB87439E-6ABC-2A71-9401-F66319CC4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483" y="1556984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7329E6-BDB3-9B76-7D64-288B48CCF3C5}"/>
                  </a:ext>
                </a:extLst>
              </p:cNvPr>
              <p:cNvSpPr txBox="1"/>
              <p:nvPr/>
            </p:nvSpPr>
            <p:spPr>
              <a:xfrm>
                <a:off x="4475364" y="1407134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7329E6-BDB3-9B76-7D64-288B48CCF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364" y="1407134"/>
                <a:ext cx="914400" cy="187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A984A72-4170-E862-2026-806BDD6FA336}"/>
              </a:ext>
            </a:extLst>
          </p:cNvPr>
          <p:cNvCxnSpPr/>
          <p:nvPr/>
        </p:nvCxnSpPr>
        <p:spPr>
          <a:xfrm>
            <a:off x="1747910" y="1679012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32B9CC-369B-CBB8-E17F-9CAC2AAF6BB9}"/>
              </a:ext>
            </a:extLst>
          </p:cNvPr>
          <p:cNvCxnSpPr>
            <a:cxnSpLocks/>
          </p:cNvCxnSpPr>
          <p:nvPr/>
        </p:nvCxnSpPr>
        <p:spPr>
          <a:xfrm flipH="1">
            <a:off x="1788314" y="18311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8514D59-EBA7-F96C-F140-A2E6A1423613}"/>
                  </a:ext>
                </a:extLst>
              </p:cNvPr>
              <p:cNvSpPr txBox="1"/>
              <p:nvPr/>
            </p:nvSpPr>
            <p:spPr>
              <a:xfrm>
                <a:off x="1844525" y="1512198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8514D59-EBA7-F96C-F140-A2E6A1423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525" y="1512198"/>
                <a:ext cx="352639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F9CB49B-5685-35E3-EF34-022BBD69B393}"/>
                  </a:ext>
                </a:extLst>
              </p:cNvPr>
              <p:cNvSpPr txBox="1"/>
              <p:nvPr/>
            </p:nvSpPr>
            <p:spPr>
              <a:xfrm>
                <a:off x="1857817" y="1853120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F9CB49B-5685-35E3-EF34-022BBD69B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817" y="1853120"/>
                <a:ext cx="35263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144D1DF-0B3B-2859-FBA2-C85E9C5E180B}"/>
              </a:ext>
            </a:extLst>
          </p:cNvPr>
          <p:cNvCxnSpPr/>
          <p:nvPr/>
        </p:nvCxnSpPr>
        <p:spPr>
          <a:xfrm>
            <a:off x="4061251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03C69C-A6D3-1BAE-C660-9C872406FF11}"/>
              </a:ext>
            </a:extLst>
          </p:cNvPr>
          <p:cNvSpPr txBox="1"/>
          <p:nvPr/>
        </p:nvSpPr>
        <p:spPr>
          <a:xfrm>
            <a:off x="4005100" y="139819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2D655EF-8B82-898E-4357-49A084E58348}"/>
              </a:ext>
            </a:extLst>
          </p:cNvPr>
          <p:cNvCxnSpPr/>
          <p:nvPr/>
        </p:nvCxnSpPr>
        <p:spPr>
          <a:xfrm flipH="1">
            <a:off x="4120705" y="1829577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9B90E7B-AE18-350F-1127-455F894C5A0A}"/>
              </a:ext>
            </a:extLst>
          </p:cNvPr>
          <p:cNvSpPr txBox="1"/>
          <p:nvPr/>
        </p:nvSpPr>
        <p:spPr>
          <a:xfrm>
            <a:off x="4010017" y="1864400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1FC956F-0317-1B41-2D46-C0EC7775B75D}"/>
                  </a:ext>
                </a:extLst>
              </p:cNvPr>
              <p:cNvSpPr txBox="1"/>
              <p:nvPr/>
            </p:nvSpPr>
            <p:spPr>
              <a:xfrm>
                <a:off x="3302648" y="1312437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1FC956F-0317-1B41-2D46-C0EC7775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648" y="1312437"/>
                <a:ext cx="956082" cy="2901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7A844ADF-99D6-51AF-6C22-5AFD019929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5846" y="1574924"/>
            <a:ext cx="554853" cy="554853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D47AD6-1780-CDFB-292C-3B29CE2C98D0}"/>
              </a:ext>
            </a:extLst>
          </p:cNvPr>
          <p:cNvCxnSpPr/>
          <p:nvPr/>
        </p:nvCxnSpPr>
        <p:spPr>
          <a:xfrm>
            <a:off x="2902376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69C29D6-6DD4-9443-667E-382A8B49342F}"/>
              </a:ext>
            </a:extLst>
          </p:cNvPr>
          <p:cNvCxnSpPr/>
          <p:nvPr/>
        </p:nvCxnSpPr>
        <p:spPr>
          <a:xfrm flipH="1">
            <a:off x="2961618" y="1831012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person using a tripod to shoot a picture&#10;&#10;AI-generated content may be incorrect.">
            <a:extLst>
              <a:ext uri="{FF2B5EF4-FFF2-40B4-BE49-F238E27FC236}">
                <a16:creationId xmlns:a16="http://schemas.microsoft.com/office/drawing/2014/main" id="{7705CA84-FBA7-94BC-3214-852499911E1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38507" y="1558943"/>
            <a:ext cx="565577" cy="568755"/>
          </a:xfrm>
          <a:prstGeom prst="rect">
            <a:avLst/>
          </a:prstGeom>
        </p:spPr>
      </p:pic>
      <p:pic>
        <p:nvPicPr>
          <p:cNvPr id="42" name="Picture 41" descr="A person using a tripod to shoot a picture&#10;&#10;AI-generated content may be incorrect.">
            <a:extLst>
              <a:ext uri="{FF2B5EF4-FFF2-40B4-BE49-F238E27FC236}">
                <a16:creationId xmlns:a16="http://schemas.microsoft.com/office/drawing/2014/main" id="{4EAD79E1-DC59-94C6-A84A-8B8A00E48C0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42757" y="703100"/>
            <a:ext cx="565577" cy="568755"/>
          </a:xfrm>
          <a:prstGeom prst="rect">
            <a:avLst/>
          </a:prstGeom>
        </p:spPr>
      </p:pic>
      <p:pic>
        <p:nvPicPr>
          <p:cNvPr id="43" name="Picture 42" descr="A person with an object&#10;&#10;AI-generated content may be incorrect.">
            <a:extLst>
              <a:ext uri="{FF2B5EF4-FFF2-40B4-BE49-F238E27FC236}">
                <a16:creationId xmlns:a16="http://schemas.microsoft.com/office/drawing/2014/main" id="{AAF6E58D-7E30-CD87-73B0-B595F1C6D8D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55031" y="1556623"/>
            <a:ext cx="573154" cy="57315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6C03C91F-3581-CE5B-CC04-1B9940007BFA}"/>
              </a:ext>
            </a:extLst>
          </p:cNvPr>
          <p:cNvSpPr txBox="1"/>
          <p:nvPr/>
        </p:nvSpPr>
        <p:spPr>
          <a:xfrm>
            <a:off x="2818852" y="1403133"/>
            <a:ext cx="692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Data Augmentation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6B5363-C0E5-1256-AFC6-391B6614B1D1}"/>
              </a:ext>
            </a:extLst>
          </p:cNvPr>
          <p:cNvSpPr txBox="1"/>
          <p:nvPr/>
        </p:nvSpPr>
        <p:spPr>
          <a:xfrm>
            <a:off x="2788583" y="1818305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*Inverse Data Augmentation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59E87AD-7D81-74F3-8BE8-5F2E7D15F9AC}"/>
                  </a:ext>
                </a:extLst>
              </p:cNvPr>
              <p:cNvSpPr txBox="1"/>
              <p:nvPr/>
            </p:nvSpPr>
            <p:spPr>
              <a:xfrm>
                <a:off x="2151159" y="2155429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Image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59E87AD-7D81-74F3-8BE8-5F2E7D15F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1159" y="2155429"/>
                <a:ext cx="956082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A16DB0A7-FB77-D892-2518-70606942D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483" y="2397890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B4F6EB7-600E-1D5D-0D8F-540FF76610EF}"/>
                  </a:ext>
                </a:extLst>
              </p:cNvPr>
              <p:cNvSpPr txBox="1"/>
              <p:nvPr/>
            </p:nvSpPr>
            <p:spPr>
              <a:xfrm>
                <a:off x="4475364" y="2245351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B4F6EB7-600E-1D5D-0D8F-540FF7661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364" y="2245351"/>
                <a:ext cx="914400" cy="187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56C61FA-887B-FFC0-EDB6-828AEE18DF76}"/>
              </a:ext>
            </a:extLst>
          </p:cNvPr>
          <p:cNvCxnSpPr/>
          <p:nvPr/>
        </p:nvCxnSpPr>
        <p:spPr>
          <a:xfrm>
            <a:off x="1747910" y="2519918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4094D9E-D155-9B76-D5FC-CEABB4C929A6}"/>
              </a:ext>
            </a:extLst>
          </p:cNvPr>
          <p:cNvCxnSpPr>
            <a:cxnSpLocks/>
          </p:cNvCxnSpPr>
          <p:nvPr/>
        </p:nvCxnSpPr>
        <p:spPr>
          <a:xfrm flipH="1">
            <a:off x="1788314" y="2672024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21646E-C3A7-55F4-6F97-AE37A927F9A8}"/>
              </a:ext>
            </a:extLst>
          </p:cNvPr>
          <p:cNvCxnSpPr/>
          <p:nvPr/>
        </p:nvCxnSpPr>
        <p:spPr>
          <a:xfrm>
            <a:off x="4061251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729E21D-ACC5-7773-B2EA-E76F0CCE64AE}"/>
              </a:ext>
            </a:extLst>
          </p:cNvPr>
          <p:cNvSpPr txBox="1"/>
          <p:nvPr/>
        </p:nvSpPr>
        <p:spPr>
          <a:xfrm>
            <a:off x="3969289" y="2238490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CD78062-4060-03C8-5918-D1CC7418E56B}"/>
              </a:ext>
            </a:extLst>
          </p:cNvPr>
          <p:cNvCxnSpPr/>
          <p:nvPr/>
        </p:nvCxnSpPr>
        <p:spPr>
          <a:xfrm flipH="1">
            <a:off x="4120705" y="267048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D8789AE-27A7-3E1A-3314-6C4C3652DEBF}"/>
              </a:ext>
            </a:extLst>
          </p:cNvPr>
          <p:cNvSpPr txBox="1"/>
          <p:nvPr/>
        </p:nvSpPr>
        <p:spPr>
          <a:xfrm>
            <a:off x="4010017" y="2705306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A70B884-5A4E-B6ED-A1D6-F5D26C6772FF}"/>
                  </a:ext>
                </a:extLst>
              </p:cNvPr>
              <p:cNvSpPr txBox="1"/>
              <p:nvPr/>
            </p:nvSpPr>
            <p:spPr>
              <a:xfrm>
                <a:off x="3296937" y="2163146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A70B884-5A4E-B6ED-A1D6-F5D26C677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937" y="2163146"/>
                <a:ext cx="956082" cy="29014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0" name="Picture 59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E426D748-3B66-C42B-E920-7036076284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5846" y="2415830"/>
            <a:ext cx="554853" cy="554853"/>
          </a:xfrm>
          <a:prstGeom prst="rect">
            <a:avLst/>
          </a:prstGeom>
        </p:spPr>
      </p:pic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468A45A-0102-FE3F-06FC-9A8F32D7182C}"/>
              </a:ext>
            </a:extLst>
          </p:cNvPr>
          <p:cNvCxnSpPr/>
          <p:nvPr/>
        </p:nvCxnSpPr>
        <p:spPr>
          <a:xfrm>
            <a:off x="2902376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0B4401B-0599-FF69-4C86-C5379394BF22}"/>
              </a:ext>
            </a:extLst>
          </p:cNvPr>
          <p:cNvCxnSpPr/>
          <p:nvPr/>
        </p:nvCxnSpPr>
        <p:spPr>
          <a:xfrm flipH="1">
            <a:off x="2961618" y="26719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3" name="Picture 62" descr="A person with an object&#10;&#10;AI-generated content may be incorrect.">
            <a:extLst>
              <a:ext uri="{FF2B5EF4-FFF2-40B4-BE49-F238E27FC236}">
                <a16:creationId xmlns:a16="http://schemas.microsoft.com/office/drawing/2014/main" id="{C7380C98-CB8C-D582-A5DB-049857C3B1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55031" y="2397529"/>
            <a:ext cx="573154" cy="57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A3FFCEB-256E-0D3F-CDD0-87D470A275C9}"/>
                  </a:ext>
                </a:extLst>
              </p:cNvPr>
              <p:cNvSpPr txBox="1"/>
              <p:nvPr/>
            </p:nvSpPr>
            <p:spPr>
              <a:xfrm>
                <a:off x="2996075" y="2353849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A3FFCEB-256E-0D3F-CDD0-87D470A27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075" y="2353849"/>
                <a:ext cx="352639" cy="2000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2ECEB61-051F-DB69-C98E-A34EE08ABFB9}"/>
                  </a:ext>
                </a:extLst>
              </p:cNvPr>
              <p:cNvSpPr txBox="1"/>
              <p:nvPr/>
            </p:nvSpPr>
            <p:spPr>
              <a:xfrm>
                <a:off x="3009367" y="2694771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2ECEB61-051F-DB69-C98E-A34EE08AB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367" y="2694771"/>
                <a:ext cx="352639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BA6D5E87-70B7-C128-24EF-D40E98156809}"/>
              </a:ext>
            </a:extLst>
          </p:cNvPr>
          <p:cNvSpPr txBox="1"/>
          <p:nvPr/>
        </p:nvSpPr>
        <p:spPr>
          <a:xfrm>
            <a:off x="1693082" y="224884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Image Augmentation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3E22D8-6E16-1824-4F22-2EBB813E8EE3}"/>
              </a:ext>
            </a:extLst>
          </p:cNvPr>
          <p:cNvSpPr txBox="1"/>
          <p:nvPr/>
        </p:nvSpPr>
        <p:spPr>
          <a:xfrm>
            <a:off x="1630113" y="2683249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Inverse Image Augmentation</a:t>
            </a:r>
          </a:p>
        </p:txBody>
      </p:sp>
      <p:pic>
        <p:nvPicPr>
          <p:cNvPr id="68" name="Picture 67" descr="A person using a camera&#10;&#10;AI-generated content may be incorrect.">
            <a:extLst>
              <a:ext uri="{FF2B5EF4-FFF2-40B4-BE49-F238E27FC236}">
                <a16:creationId xmlns:a16="http://schemas.microsoft.com/office/drawing/2014/main" id="{F0B4ADAF-519D-BCC4-6EF4-C47A623931F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49989" y="2398129"/>
            <a:ext cx="557804" cy="554688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C4828B-24A6-7182-18C3-F11F85415597}"/>
              </a:ext>
            </a:extLst>
          </p:cNvPr>
          <p:cNvSpPr txBox="1"/>
          <p:nvPr/>
        </p:nvSpPr>
        <p:spPr>
          <a:xfrm>
            <a:off x="391160" y="862644"/>
            <a:ext cx="788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Ideal Model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D03A72-7FDD-8B16-B62E-4428E1288760}"/>
              </a:ext>
            </a:extLst>
          </p:cNvPr>
          <p:cNvSpPr txBox="1"/>
          <p:nvPr/>
        </p:nvSpPr>
        <p:spPr>
          <a:xfrm>
            <a:off x="224855" y="1510205"/>
            <a:ext cx="95939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post hoc</a:t>
            </a:r>
          </a:p>
          <a:p>
            <a:pPr algn="ctr"/>
            <a:r>
              <a:rPr lang="en-US" sz="600" dirty="0"/>
              <a:t>(Method used in paper)</a:t>
            </a:r>
            <a:endParaRPr lang="en-US" sz="5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16099C-EF2E-7E8A-A5D4-74A94DB8FEC8}"/>
              </a:ext>
            </a:extLst>
          </p:cNvPr>
          <p:cNvSpPr txBox="1"/>
          <p:nvPr/>
        </p:nvSpPr>
        <p:spPr>
          <a:xfrm>
            <a:off x="269849" y="2414555"/>
            <a:ext cx="91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ante hoc</a:t>
            </a:r>
          </a:p>
          <a:p>
            <a:pPr algn="ctr"/>
            <a:r>
              <a:rPr lang="en-US" sz="600" dirty="0"/>
              <a:t>(Equivalent Method)</a:t>
            </a:r>
            <a:endParaRPr lang="en-US" sz="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14461DE-654C-A16D-626F-ED92E8996A99}"/>
                  </a:ext>
                </a:extLst>
              </p:cNvPr>
              <p:cNvSpPr txBox="1"/>
              <p:nvPr/>
            </p:nvSpPr>
            <p:spPr>
              <a:xfrm>
                <a:off x="4548389" y="573329"/>
                <a:ext cx="768350" cy="184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𝑌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ℱ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𝑥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cs typeface="+mn-cs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14461DE-654C-A16D-626F-ED92E8996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8389" y="573329"/>
                <a:ext cx="768350" cy="18466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DF5557E-83F2-8FDF-A20E-4C5BAE546BAC}"/>
                  </a:ext>
                </a:extLst>
              </p:cNvPr>
              <p:cNvSpPr txBox="1"/>
              <p:nvPr/>
            </p:nvSpPr>
            <p:spPr>
              <a:xfrm>
                <a:off x="2172232" y="456826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DF5557E-83F2-8FDF-A20E-4C5BAE546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232" y="456826"/>
                <a:ext cx="956082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3ADE45-8CCA-C479-180A-FF2F3885F92D}"/>
                  </a:ext>
                </a:extLst>
              </p:cNvPr>
              <p:cNvSpPr txBox="1"/>
              <p:nvPr/>
            </p:nvSpPr>
            <p:spPr>
              <a:xfrm>
                <a:off x="2180022" y="1314612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3ADE45-8CCA-C479-180A-FF2F3885F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022" y="1314612"/>
                <a:ext cx="956082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087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B8C65-D141-2A2B-6AE2-39632BC7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182E94-0E82-5A00-7920-3B9BD49234BB}"/>
                  </a:ext>
                </a:extLst>
              </p:cNvPr>
              <p:cNvSpPr txBox="1"/>
              <p:nvPr/>
            </p:nvSpPr>
            <p:spPr>
              <a:xfrm>
                <a:off x="1913360" y="252301"/>
                <a:ext cx="914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/>
                  <a:t>Sampled Image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700" b="0" i="1" smtClean="0">
                          <a:latin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182E94-0E82-5A00-7920-3B9BD4923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3360" y="252301"/>
                <a:ext cx="9144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DC6E36D9-3B3F-3DC3-F668-C40E46DA1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892" y="761559"/>
            <a:ext cx="559427" cy="5549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BE59D89-35B9-590E-7BA7-FC184BD1ACE4}"/>
              </a:ext>
            </a:extLst>
          </p:cNvPr>
          <p:cNvSpPr txBox="1"/>
          <p:nvPr/>
        </p:nvSpPr>
        <p:spPr>
          <a:xfrm>
            <a:off x="5337176" y="321171"/>
            <a:ext cx="9144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ea typeface="Cambria Math" panose="02040503050406030204" pitchFamily="18" charset="0"/>
              </a:rPr>
              <a:t>Observable</a:t>
            </a:r>
            <a:endParaRPr lang="en-US" sz="700" b="0" dirty="0">
              <a:latin typeface="Cambria Math" panose="02040503050406030204" pitchFamily="18" charset="0"/>
            </a:endParaRPr>
          </a:p>
        </p:txBody>
      </p:sp>
      <p:pic>
        <p:nvPicPr>
          <p:cNvPr id="11" name="Picture 10" descr="A person using a telescope&#10;&#10;AI-generated content may be incorrect.">
            <a:extLst>
              <a:ext uri="{FF2B5EF4-FFF2-40B4-BE49-F238E27FC236}">
                <a16:creationId xmlns:a16="http://schemas.microsoft.com/office/drawing/2014/main" id="{53F2DE0F-B095-5E46-65DD-B205E9BF4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4568" y="728500"/>
            <a:ext cx="559617" cy="55492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C78293-9B76-63E5-C0C6-6FE8427A6235}"/>
              </a:ext>
            </a:extLst>
          </p:cNvPr>
          <p:cNvCxnSpPr/>
          <p:nvPr/>
        </p:nvCxnSpPr>
        <p:spPr>
          <a:xfrm>
            <a:off x="2603319" y="883587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5738E18-2743-3258-4FEF-2B3E0411D979}"/>
              </a:ext>
            </a:extLst>
          </p:cNvPr>
          <p:cNvCxnSpPr/>
          <p:nvPr/>
        </p:nvCxnSpPr>
        <p:spPr>
          <a:xfrm flipH="1">
            <a:off x="2643723" y="103569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AB9ED7-EDA8-7D40-8B7F-06FD744E1218}"/>
                  </a:ext>
                </a:extLst>
              </p:cNvPr>
              <p:cNvSpPr txBox="1"/>
              <p:nvPr/>
            </p:nvSpPr>
            <p:spPr>
              <a:xfrm>
                <a:off x="2699934" y="716773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AB9ED7-EDA8-7D40-8B7F-06FD744E1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9934" y="716773"/>
                <a:ext cx="352639" cy="2000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6240CA-D772-A6B0-15D4-015AA2BCF440}"/>
                  </a:ext>
                </a:extLst>
              </p:cNvPr>
              <p:cNvSpPr txBox="1"/>
              <p:nvPr/>
            </p:nvSpPr>
            <p:spPr>
              <a:xfrm>
                <a:off x="2713226" y="1057695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6240CA-D772-A6B0-15D4-015AA2BCF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3226" y="1057695"/>
                <a:ext cx="352639" cy="2000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F13BAF-787F-F0C9-1F80-91521F1F9B06}"/>
              </a:ext>
            </a:extLst>
          </p:cNvPr>
          <p:cNvCxnSpPr>
            <a:cxnSpLocks/>
          </p:cNvCxnSpPr>
          <p:nvPr/>
        </p:nvCxnSpPr>
        <p:spPr>
          <a:xfrm>
            <a:off x="3751575" y="883587"/>
            <a:ext cx="17546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579702-FF38-62DC-F8DE-C33BAFAD64AD}"/>
                  </a:ext>
                </a:extLst>
              </p:cNvPr>
              <p:cNvSpPr txBox="1"/>
              <p:nvPr/>
            </p:nvSpPr>
            <p:spPr>
              <a:xfrm>
                <a:off x="4041095" y="709759"/>
                <a:ext cx="102876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 </m:t>
                    </m:r>
                  </m:oMath>
                </a14:m>
                <a:r>
                  <a:rPr lang="en-US" sz="600" dirty="0">
                    <a:solidFill>
                      <a:srgbClr val="4EA72E"/>
                    </a:solidFill>
                    <a:ea typeface="Cambria Math" panose="02040503050406030204" pitchFamily="18" charset="0"/>
                  </a:rPr>
                  <a:t>Measurement noise</a:t>
                </a:r>
                <a14:m>
                  <m:oMath xmlns:m="http://schemas.openxmlformats.org/officeDocument/2006/math">
                    <m:r>
                      <a:rPr lang="en-US" sz="600" b="0" i="1" smtClean="0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600" i="1">
                        <a:solidFill>
                          <a:srgbClr val="4EA72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600" dirty="0">
                  <a:solidFill>
                    <a:srgbClr val="4EA72E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579702-FF38-62DC-F8DE-C33BAFAD6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095" y="709759"/>
                <a:ext cx="1028769" cy="184666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C89B9F9-43B2-9FCB-A68E-6C3B31C87518}"/>
              </a:ext>
            </a:extLst>
          </p:cNvPr>
          <p:cNvCxnSpPr>
            <a:cxnSpLocks/>
          </p:cNvCxnSpPr>
          <p:nvPr/>
        </p:nvCxnSpPr>
        <p:spPr>
          <a:xfrm flipH="1">
            <a:off x="3851484" y="1034921"/>
            <a:ext cx="1661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D53074-16A8-6634-518F-E6830A642E82}"/>
              </a:ext>
            </a:extLst>
          </p:cNvPr>
          <p:cNvSpPr txBox="1"/>
          <p:nvPr/>
        </p:nvSpPr>
        <p:spPr>
          <a:xfrm>
            <a:off x="4009590" y="1017816"/>
            <a:ext cx="13211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*Full Bayesian Pipeline</a:t>
            </a:r>
          </a:p>
        </p:txBody>
      </p:sp>
      <p:pic>
        <p:nvPicPr>
          <p:cNvPr id="25" name="Picture 24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831F3CC2-EAB2-B979-E570-557674046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892" y="1556984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E00A8B-E2AE-DBD3-179A-FB9BA2874902}"/>
                  </a:ext>
                </a:extLst>
              </p:cNvPr>
              <p:cNvSpPr txBox="1"/>
              <p:nvPr/>
            </p:nvSpPr>
            <p:spPr>
              <a:xfrm>
                <a:off x="5330773" y="1407134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E00A8B-E2AE-DBD3-179A-FB9BA2874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773" y="1407134"/>
                <a:ext cx="914400" cy="187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5D81B48-0CD2-33C6-C047-E67AD7EEDB6B}"/>
              </a:ext>
            </a:extLst>
          </p:cNvPr>
          <p:cNvCxnSpPr/>
          <p:nvPr/>
        </p:nvCxnSpPr>
        <p:spPr>
          <a:xfrm>
            <a:off x="2603319" y="1679012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1EFDA4B-332C-4630-0D08-F751FB2EF1DB}"/>
              </a:ext>
            </a:extLst>
          </p:cNvPr>
          <p:cNvCxnSpPr>
            <a:cxnSpLocks/>
          </p:cNvCxnSpPr>
          <p:nvPr/>
        </p:nvCxnSpPr>
        <p:spPr>
          <a:xfrm flipH="1">
            <a:off x="2643723" y="18311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B4FB9D-2D88-6798-BAF2-85D4CE576D89}"/>
                  </a:ext>
                </a:extLst>
              </p:cNvPr>
              <p:cNvSpPr txBox="1"/>
              <p:nvPr/>
            </p:nvSpPr>
            <p:spPr>
              <a:xfrm>
                <a:off x="2699934" y="1512198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B4FB9D-2D88-6798-BAF2-85D4CE576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9934" y="1512198"/>
                <a:ext cx="352639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0ADD443-6B7B-E117-B311-A64BFF82BB6C}"/>
                  </a:ext>
                </a:extLst>
              </p:cNvPr>
              <p:cNvSpPr txBox="1"/>
              <p:nvPr/>
            </p:nvSpPr>
            <p:spPr>
              <a:xfrm>
                <a:off x="2713226" y="1853120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0ADD443-6B7B-E117-B311-A64BFF82B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3226" y="1853120"/>
                <a:ext cx="35263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F268A39-92D7-E525-83B7-1020C812917B}"/>
              </a:ext>
            </a:extLst>
          </p:cNvPr>
          <p:cNvCxnSpPr/>
          <p:nvPr/>
        </p:nvCxnSpPr>
        <p:spPr>
          <a:xfrm>
            <a:off x="4916660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EF0D4-289A-5AFF-96EF-157EA67135A3}"/>
              </a:ext>
            </a:extLst>
          </p:cNvPr>
          <p:cNvSpPr txBox="1"/>
          <p:nvPr/>
        </p:nvSpPr>
        <p:spPr>
          <a:xfrm>
            <a:off x="4860509" y="139819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41E5B8-19FC-9E8D-4ACE-9AE86AFABF06}"/>
              </a:ext>
            </a:extLst>
          </p:cNvPr>
          <p:cNvCxnSpPr/>
          <p:nvPr/>
        </p:nvCxnSpPr>
        <p:spPr>
          <a:xfrm flipH="1">
            <a:off x="4976114" y="1829577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3A33409-0243-62C5-27D1-6950CF40C9B4}"/>
              </a:ext>
            </a:extLst>
          </p:cNvPr>
          <p:cNvSpPr txBox="1"/>
          <p:nvPr/>
        </p:nvSpPr>
        <p:spPr>
          <a:xfrm>
            <a:off x="4865426" y="1864400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0A5ECE-D441-4AB2-B53C-ECFE416554B4}"/>
                  </a:ext>
                </a:extLst>
              </p:cNvPr>
              <p:cNvSpPr txBox="1"/>
              <p:nvPr/>
            </p:nvSpPr>
            <p:spPr>
              <a:xfrm>
                <a:off x="4158057" y="1312437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0A5ECE-D441-4AB2-B53C-ECFE41655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057" y="1312437"/>
                <a:ext cx="956082" cy="2901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6E0BC31E-DDB4-6AC6-3F5B-B3E7173C386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1255" y="1574924"/>
            <a:ext cx="554853" cy="554853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A03783A-05EB-AB3B-D558-B2B72AF3CD54}"/>
              </a:ext>
            </a:extLst>
          </p:cNvPr>
          <p:cNvCxnSpPr/>
          <p:nvPr/>
        </p:nvCxnSpPr>
        <p:spPr>
          <a:xfrm>
            <a:off x="3757785" y="1678243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A8E2E2D-6708-3FCE-F890-E29F48220CD4}"/>
              </a:ext>
            </a:extLst>
          </p:cNvPr>
          <p:cNvCxnSpPr/>
          <p:nvPr/>
        </p:nvCxnSpPr>
        <p:spPr>
          <a:xfrm flipH="1">
            <a:off x="3817027" y="1831012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person using a tripod to shoot a picture&#10;&#10;AI-generated content may be incorrect.">
            <a:extLst>
              <a:ext uri="{FF2B5EF4-FFF2-40B4-BE49-F238E27FC236}">
                <a16:creationId xmlns:a16="http://schemas.microsoft.com/office/drawing/2014/main" id="{A4F4F7E3-ED52-C7D5-9A3D-1B91FE4112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93916" y="1558943"/>
            <a:ext cx="565577" cy="568755"/>
          </a:xfrm>
          <a:prstGeom prst="rect">
            <a:avLst/>
          </a:prstGeom>
        </p:spPr>
      </p:pic>
      <p:pic>
        <p:nvPicPr>
          <p:cNvPr id="42" name="Picture 41" descr="A person using a tripod to shoot a picture&#10;&#10;AI-generated content may be incorrect.">
            <a:extLst>
              <a:ext uri="{FF2B5EF4-FFF2-40B4-BE49-F238E27FC236}">
                <a16:creationId xmlns:a16="http://schemas.microsoft.com/office/drawing/2014/main" id="{89CA7CE1-DC68-88D7-78FE-A94327040B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98166" y="703100"/>
            <a:ext cx="565577" cy="568755"/>
          </a:xfrm>
          <a:prstGeom prst="rect">
            <a:avLst/>
          </a:prstGeom>
        </p:spPr>
      </p:pic>
      <p:pic>
        <p:nvPicPr>
          <p:cNvPr id="43" name="Picture 42" descr="A person with an object&#10;&#10;AI-generated content may be incorrect.">
            <a:extLst>
              <a:ext uri="{FF2B5EF4-FFF2-40B4-BE49-F238E27FC236}">
                <a16:creationId xmlns:a16="http://schemas.microsoft.com/office/drawing/2014/main" id="{A2D25B0F-C7FF-C9FC-48C9-4B51C5A5CB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10440" y="1556623"/>
            <a:ext cx="573154" cy="57315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8449DF8-C3B9-7710-A268-6C3333E3AF2A}"/>
              </a:ext>
            </a:extLst>
          </p:cNvPr>
          <p:cNvSpPr txBox="1"/>
          <p:nvPr/>
        </p:nvSpPr>
        <p:spPr>
          <a:xfrm>
            <a:off x="3674261" y="1403133"/>
            <a:ext cx="692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Data Augmentation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963C8A-FCE1-84BF-CA51-A6FA2E51C49A}"/>
              </a:ext>
            </a:extLst>
          </p:cNvPr>
          <p:cNvSpPr txBox="1"/>
          <p:nvPr/>
        </p:nvSpPr>
        <p:spPr>
          <a:xfrm>
            <a:off x="3643992" y="1818305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*Inverse Data Augmentation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27EF02A-1B6B-8BFF-B3C4-2186D904D887}"/>
                  </a:ext>
                </a:extLst>
              </p:cNvPr>
              <p:cNvSpPr txBox="1"/>
              <p:nvPr/>
            </p:nvSpPr>
            <p:spPr>
              <a:xfrm>
                <a:off x="3006568" y="2155429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Augmented Image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27EF02A-1B6B-8BFF-B3C4-2186D904D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68" y="2155429"/>
                <a:ext cx="956082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B4CC0E1C-25F1-EBEB-47D6-939FE481E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892" y="2397890"/>
            <a:ext cx="559427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6546D40-25EF-D728-CB3A-551D2702BCB7}"/>
                  </a:ext>
                </a:extLst>
              </p:cNvPr>
              <p:cNvSpPr txBox="1"/>
              <p:nvPr/>
            </p:nvSpPr>
            <p:spPr>
              <a:xfrm>
                <a:off x="5330773" y="2245351"/>
                <a:ext cx="914400" cy="187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6546D40-25EF-D728-CB3A-551D2702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773" y="2245351"/>
                <a:ext cx="914400" cy="187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66CEA0-37AE-99D8-21E7-024579386C3F}"/>
              </a:ext>
            </a:extLst>
          </p:cNvPr>
          <p:cNvCxnSpPr/>
          <p:nvPr/>
        </p:nvCxnSpPr>
        <p:spPr>
          <a:xfrm>
            <a:off x="2603319" y="2519918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5111E80-129A-10C7-BFEF-F106E83D3C53}"/>
              </a:ext>
            </a:extLst>
          </p:cNvPr>
          <p:cNvCxnSpPr>
            <a:cxnSpLocks/>
          </p:cNvCxnSpPr>
          <p:nvPr/>
        </p:nvCxnSpPr>
        <p:spPr>
          <a:xfrm flipH="1">
            <a:off x="2643723" y="2672024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59DFA14-A602-A672-495D-C62BD7FC8435}"/>
              </a:ext>
            </a:extLst>
          </p:cNvPr>
          <p:cNvCxnSpPr/>
          <p:nvPr/>
        </p:nvCxnSpPr>
        <p:spPr>
          <a:xfrm>
            <a:off x="4916660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B09289B-64D8-EF83-EB7C-2C9C2B93AC73}"/>
              </a:ext>
            </a:extLst>
          </p:cNvPr>
          <p:cNvSpPr txBox="1"/>
          <p:nvPr/>
        </p:nvSpPr>
        <p:spPr>
          <a:xfrm>
            <a:off x="4824698" y="2238490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Make Observation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D1F5937-BF2D-DEE6-5931-B6E380B24F7D}"/>
              </a:ext>
            </a:extLst>
          </p:cNvPr>
          <p:cNvCxnSpPr/>
          <p:nvPr/>
        </p:nvCxnSpPr>
        <p:spPr>
          <a:xfrm flipH="1">
            <a:off x="4976114" y="2670483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D9CCAFB4-D37B-7AD0-5261-0E6DD662310F}"/>
              </a:ext>
            </a:extLst>
          </p:cNvPr>
          <p:cNvSpPr txBox="1"/>
          <p:nvPr/>
        </p:nvSpPr>
        <p:spPr>
          <a:xfrm>
            <a:off x="4865426" y="2705306"/>
            <a:ext cx="69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Full Bayesian 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9217054-E446-1C7C-3504-A56B1D542D57}"/>
                  </a:ext>
                </a:extLst>
              </p:cNvPr>
              <p:cNvSpPr txBox="1"/>
              <p:nvPr/>
            </p:nvSpPr>
            <p:spPr>
              <a:xfrm>
                <a:off x="4152346" y="2163146"/>
                <a:ext cx="956082" cy="290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sz="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 b="0" i="0" smtClean="0">
                              <a:latin typeface="Cambria Math" panose="02040503050406030204" pitchFamily="18" charset="0"/>
                            </a:rPr>
                            <m:t>approx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9217054-E446-1C7C-3504-A56B1D542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346" y="2163146"/>
                <a:ext cx="956082" cy="29014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0" name="Picture 59" descr="A person looking through a telescope&#10;&#10;AI-generated content may be incorrect.">
            <a:extLst>
              <a:ext uri="{FF2B5EF4-FFF2-40B4-BE49-F238E27FC236}">
                <a16:creationId xmlns:a16="http://schemas.microsoft.com/office/drawing/2014/main" id="{0DC17C4B-F398-680B-2F7D-F2FAFF24CED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1255" y="2415830"/>
            <a:ext cx="554853" cy="554853"/>
          </a:xfrm>
          <a:prstGeom prst="rect">
            <a:avLst/>
          </a:prstGeom>
        </p:spPr>
      </p:pic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DCC7C6-5511-6FF6-CBDB-3358A5891DBE}"/>
              </a:ext>
            </a:extLst>
          </p:cNvPr>
          <p:cNvCxnSpPr/>
          <p:nvPr/>
        </p:nvCxnSpPr>
        <p:spPr>
          <a:xfrm>
            <a:off x="3757785" y="2519149"/>
            <a:ext cx="5136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D697207-1C64-057B-13EA-70DF013C9224}"/>
              </a:ext>
            </a:extLst>
          </p:cNvPr>
          <p:cNvCxnSpPr/>
          <p:nvPr/>
        </p:nvCxnSpPr>
        <p:spPr>
          <a:xfrm flipH="1">
            <a:off x="3817027" y="2671918"/>
            <a:ext cx="53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3" name="Picture 62" descr="A person with an object&#10;&#10;AI-generated content may be incorrect.">
            <a:extLst>
              <a:ext uri="{FF2B5EF4-FFF2-40B4-BE49-F238E27FC236}">
                <a16:creationId xmlns:a16="http://schemas.microsoft.com/office/drawing/2014/main" id="{CEA8599E-B78F-7A00-5897-F6B1CF023A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10440" y="2397529"/>
            <a:ext cx="573154" cy="57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8E6D99F-4AA2-1F2D-AA6D-27D5F433B5F5}"/>
                  </a:ext>
                </a:extLst>
              </p:cNvPr>
              <p:cNvSpPr txBox="1"/>
              <p:nvPr/>
            </p:nvSpPr>
            <p:spPr>
              <a:xfrm>
                <a:off x="3851484" y="2353849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8E6D99F-4AA2-1F2D-AA6D-27D5F433B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484" y="2353849"/>
                <a:ext cx="352639" cy="2000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AD4E25D-0861-044F-7EEA-72389FC2F59F}"/>
                  </a:ext>
                </a:extLst>
              </p:cNvPr>
              <p:cNvSpPr txBox="1"/>
              <p:nvPr/>
            </p:nvSpPr>
            <p:spPr>
              <a:xfrm>
                <a:off x="3864776" y="2694771"/>
                <a:ext cx="3526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70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700" i="1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  <m:sup>
                          <m:r>
                            <a:rPr lang="en-US" sz="700" b="0" i="1" smtClean="0">
                              <a:solidFill>
                                <a:srgbClr val="145A7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7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AD4E25D-0861-044F-7EEA-72389FC2F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776" y="2694771"/>
                <a:ext cx="352639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DE9CE01F-072A-CEEC-9A33-BA1117E44D07}"/>
              </a:ext>
            </a:extLst>
          </p:cNvPr>
          <p:cNvSpPr txBox="1"/>
          <p:nvPr/>
        </p:nvSpPr>
        <p:spPr>
          <a:xfrm>
            <a:off x="2548491" y="2248847"/>
            <a:ext cx="6456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chemeClr val="accent6"/>
                </a:solidFill>
              </a:rPr>
              <a:t>Image Augmentation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C4145B-6B8E-AFAE-F318-61290D8554A4}"/>
              </a:ext>
            </a:extLst>
          </p:cNvPr>
          <p:cNvSpPr txBox="1"/>
          <p:nvPr/>
        </p:nvSpPr>
        <p:spPr>
          <a:xfrm>
            <a:off x="2485522" y="2683249"/>
            <a:ext cx="823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dirty="0">
                <a:solidFill>
                  <a:srgbClr val="145A7A"/>
                </a:solidFill>
              </a:rPr>
              <a:t>Inverse Image Augmentation</a:t>
            </a:r>
          </a:p>
        </p:txBody>
      </p:sp>
      <p:pic>
        <p:nvPicPr>
          <p:cNvPr id="68" name="Picture 67" descr="A person using a camera&#10;&#10;AI-generated content may be incorrect.">
            <a:extLst>
              <a:ext uri="{FF2B5EF4-FFF2-40B4-BE49-F238E27FC236}">
                <a16:creationId xmlns:a16="http://schemas.microsoft.com/office/drawing/2014/main" id="{F792EC00-5507-0566-15E6-5E313A4DB96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205398" y="2398129"/>
            <a:ext cx="557804" cy="554688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9C0AEA2C-1A7B-5DC5-A0A6-D658573E0E28}"/>
              </a:ext>
            </a:extLst>
          </p:cNvPr>
          <p:cNvSpPr txBox="1"/>
          <p:nvPr/>
        </p:nvSpPr>
        <p:spPr>
          <a:xfrm>
            <a:off x="391160" y="862644"/>
            <a:ext cx="788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Ideal Model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468EA2A-43B2-C7C6-485E-FF6BBCF77655}"/>
              </a:ext>
            </a:extLst>
          </p:cNvPr>
          <p:cNvSpPr txBox="1"/>
          <p:nvPr/>
        </p:nvSpPr>
        <p:spPr>
          <a:xfrm>
            <a:off x="224855" y="1510205"/>
            <a:ext cx="95939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post hoc</a:t>
            </a:r>
          </a:p>
          <a:p>
            <a:pPr algn="ctr"/>
            <a:r>
              <a:rPr lang="en-US" sz="600" dirty="0"/>
              <a:t>(Method used in paper)</a:t>
            </a:r>
            <a:endParaRPr lang="en-US" sz="5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32575CF-67CA-C4F8-035F-F642658FAAC1}"/>
              </a:ext>
            </a:extLst>
          </p:cNvPr>
          <p:cNvSpPr txBox="1"/>
          <p:nvPr/>
        </p:nvSpPr>
        <p:spPr>
          <a:xfrm>
            <a:off x="269849" y="2414555"/>
            <a:ext cx="91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Augmentation ante hoc</a:t>
            </a:r>
          </a:p>
          <a:p>
            <a:pPr algn="ctr"/>
            <a:r>
              <a:rPr lang="en-US" sz="600" dirty="0"/>
              <a:t>(Equivalent Method)</a:t>
            </a:r>
            <a:endParaRPr lang="en-US" sz="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53F33BA-0345-8657-B972-16CDF9E9CEE9}"/>
                  </a:ext>
                </a:extLst>
              </p:cNvPr>
              <p:cNvSpPr txBox="1"/>
              <p:nvPr/>
            </p:nvSpPr>
            <p:spPr>
              <a:xfrm>
                <a:off x="5403798" y="573329"/>
                <a:ext cx="768350" cy="184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𝑌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ℱ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𝑥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cs typeface="+mn-cs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53F33BA-0345-8657-B972-16CDF9E9C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798" y="573329"/>
                <a:ext cx="768350" cy="18466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0250525-86AE-D3C4-557C-C628BC4AA7FC}"/>
                  </a:ext>
                </a:extLst>
              </p:cNvPr>
              <p:cNvSpPr txBox="1"/>
              <p:nvPr/>
            </p:nvSpPr>
            <p:spPr>
              <a:xfrm>
                <a:off x="3027641" y="456826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0250525-86AE-D3C4-557C-C628BC4AA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7641" y="456826"/>
                <a:ext cx="956082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00DEA5-91DC-A5D7-C5F9-DBA9966CD1B6}"/>
                  </a:ext>
                </a:extLst>
              </p:cNvPr>
              <p:cNvSpPr txBox="1"/>
              <p:nvPr/>
            </p:nvSpPr>
            <p:spPr>
              <a:xfrm>
                <a:off x="3035431" y="1314612"/>
                <a:ext cx="9560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ea typeface="Cambria Math" panose="02040503050406030204" pitchFamily="18" charset="0"/>
                  </a:rPr>
                  <a:t>Transformed Data</a:t>
                </a:r>
                <a:endParaRPr lang="en-US" sz="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</m:t>
                      </m:r>
                      <m:sSub>
                        <m:sSubPr>
                          <m:ctrlPr>
                            <a:rPr lang="en-US" sz="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6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600">
                              <a:latin typeface="Cambria Math" panose="02040503050406030204" pitchFamily="18" charset="0"/>
                            </a:rPr>
                            <m:t>true</m:t>
                          </m:r>
                        </m:sub>
                      </m:sSub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00DEA5-91DC-A5D7-C5F9-DBA9966CD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431" y="1314612"/>
                <a:ext cx="956082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een liquid splashing out of a white background&#10;&#10;AI-generated content may be incorrect.">
            <a:extLst>
              <a:ext uri="{FF2B5EF4-FFF2-40B4-BE49-F238E27FC236}">
                <a16:creationId xmlns:a16="http://schemas.microsoft.com/office/drawing/2014/main" id="{8C40806F-22EF-14B2-792C-F2BB25FE18A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7989" y="726787"/>
            <a:ext cx="748712" cy="554928"/>
          </a:xfrm>
          <a:prstGeom prst="rect">
            <a:avLst/>
          </a:prstGeom>
        </p:spPr>
      </p:pic>
      <p:pic>
        <p:nvPicPr>
          <p:cNvPr id="5" name="Picture 4" descr="A green liquid splashing out of a white background&#10;&#10;AI-generated content may be incorrect.">
            <a:extLst>
              <a:ext uri="{FF2B5EF4-FFF2-40B4-BE49-F238E27FC236}">
                <a16:creationId xmlns:a16="http://schemas.microsoft.com/office/drawing/2014/main" id="{31B8D9C6-355C-BA38-5FEB-32106814E72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977" y="1471268"/>
            <a:ext cx="748712" cy="554928"/>
          </a:xfrm>
          <a:prstGeom prst="rect">
            <a:avLst/>
          </a:prstGeom>
        </p:spPr>
      </p:pic>
      <p:pic>
        <p:nvPicPr>
          <p:cNvPr id="6" name="Picture 5" descr="A green liquid splashing out of a white background&#10;&#10;AI-generated content may be incorrect.">
            <a:extLst>
              <a:ext uri="{FF2B5EF4-FFF2-40B4-BE49-F238E27FC236}">
                <a16:creationId xmlns:a16="http://schemas.microsoft.com/office/drawing/2014/main" id="{28E93469-E926-6B65-EE30-818C09AA65A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9063" y="2397905"/>
            <a:ext cx="748712" cy="554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92DC27-1D26-530C-105E-FA2995559320}"/>
                  </a:ext>
                </a:extLst>
              </p:cNvPr>
              <p:cNvSpPr txBox="1"/>
              <p:nvPr/>
            </p:nvSpPr>
            <p:spPr>
              <a:xfrm>
                <a:off x="905726" y="253536"/>
                <a:ext cx="107820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700" dirty="0"/>
                  <a:t>True Data Ensemble </a:t>
                </a:r>
                <a14:m>
                  <m:oMath xmlns:m="http://schemas.openxmlformats.org/officeDocument/2006/math">
                    <m:r>
                      <a:rPr lang="en-US" sz="700" b="0" i="1" smtClean="0">
                        <a:latin typeface="Cambria Math" panose="02040503050406030204" pitchFamily="18" charset="0"/>
                      </a:rPr>
                      <m:t>~ </m:t>
                    </m:r>
                    <m:sSub>
                      <m:sSubPr>
                        <m:ctrlPr>
                          <a:rPr lang="en-US" sz="7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7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700" b="0" i="1" smtClean="0">
                            <a:latin typeface="Cambria Math" panose="02040503050406030204" pitchFamily="18" charset="0"/>
                          </a:rPr>
                          <m:t>𝑡𝑟𝑢𝑒</m:t>
                        </m:r>
                      </m:sub>
                    </m:sSub>
                  </m:oMath>
                </a14:m>
                <a:endParaRPr lang="en-US" sz="7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92DC27-1D26-530C-105E-FA2995559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726" y="253536"/>
                <a:ext cx="1078206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B8ECF3B-69D4-10CA-C600-A480481EA0D2}"/>
              </a:ext>
            </a:extLst>
          </p:cNvPr>
          <p:cNvCxnSpPr>
            <a:cxnSpLocks/>
          </p:cNvCxnSpPr>
          <p:nvPr/>
        </p:nvCxnSpPr>
        <p:spPr>
          <a:xfrm>
            <a:off x="1495551" y="1852350"/>
            <a:ext cx="502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670D72-A50E-D4DB-6DF9-DE1628B71C58}"/>
              </a:ext>
            </a:extLst>
          </p:cNvPr>
          <p:cNvCxnSpPr>
            <a:cxnSpLocks/>
          </p:cNvCxnSpPr>
          <p:nvPr/>
        </p:nvCxnSpPr>
        <p:spPr>
          <a:xfrm>
            <a:off x="1486625" y="2794798"/>
            <a:ext cx="502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3914795-67D2-8CD3-FA0D-74B7EFBC74EB}"/>
              </a:ext>
            </a:extLst>
          </p:cNvPr>
          <p:cNvCxnSpPr>
            <a:cxnSpLocks/>
          </p:cNvCxnSpPr>
          <p:nvPr/>
        </p:nvCxnSpPr>
        <p:spPr>
          <a:xfrm>
            <a:off x="1495551" y="1110149"/>
            <a:ext cx="502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012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</TotalTime>
  <Words>311</Words>
  <Application>Microsoft Macintosh PowerPoint</Application>
  <PresentationFormat>Custom</PresentationFormat>
  <Paragraphs>112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BRANDON MARKS</dc:creator>
  <cp:lastModifiedBy>BRANDON MARKS</cp:lastModifiedBy>
  <cp:revision>7</cp:revision>
  <dcterms:created xsi:type="dcterms:W3CDTF">2025-07-10T17:57:30Z</dcterms:created>
  <dcterms:modified xsi:type="dcterms:W3CDTF">2025-07-11T21:56:01Z</dcterms:modified>
</cp:coreProperties>
</file>